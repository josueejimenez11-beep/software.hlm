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dias. Presentamos el Sistema de Estudio, una aplicacion de escritorio hecha en Python con Tkinter para que un estudiante organice todo su semestre desde un solo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recorrido de la presentacion: primero el problema, luego las cuatro pantallas del programa, despues como guarda los datos, como esta organizado el codigo, las herramientas y finalmente como se ejecuta.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programa nace de un problema real: la informacion del semestre esta repartida en varios sitios. El Sistema de Estudio la centraliza y la guarda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Entramos ahora al recorrido por las cuatro pantallas del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menu principal. Desde aqui se entra a los cuatro modulos. Abajo hay un resumen en vivo: materias registradas, bloques de horario y promedio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Modulo uno. La captura tiene cinco materias registradas. A la izquierda el formulario, a la derecha la tabla, y abajo el total de materias y de docentes distintos.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Modulo dos. Seis bloques registrados. Abajo se ve la distribucion semanal: el lunes acumula cuatro horas y el resto dos. El contador de cruces detectados esta en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Modulo tres. Se ingresan las notas separadas por comas. El programa calcula promedio, nota mayor, nota menor y cantidad, ordena las notas y dice si el estudiante aprueba. El resultado se puede guardar asociado a una materia.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Modulo cuatro. Muestra la ficha del proyecto: institucion, catedra, autores y tecnologia. Se abre tambien con la tecla F1.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Vemos ahora la parte tecnica: la persistencia, la organizacion del codigo y las herramientas.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no es un lenguaje de programacion sino un formato para guardar datos. El programa nunca se cae por un archivo faltante o danado: lo vuelve a crear o avisa y continua.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Dividir el codigo por responsabilidades permite encontrar cualquier detalle sin recorrer todo el programa. Si hay que cambiar un color se abre configuracion.py y nada 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que Tkinter: porque viene incluida en Python, asi el programa corre en cualquier computadora sin instalar nada extra. Pillow es opcional.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pasos: abrir la carpeta completa, presionar F5 y usar el programa. Lo importante es abrir la carpeta y no el archivo suelto, porque los modulos se buscan entre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El programa se ejecuta con python study_control.py y guarda toda la informacion automaticamente. Gracias por su atencion.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084832"/>
            <a:ext cx="2331720" cy="2331720"/>
          </a:xfrm>
          <a:prstGeom prst="roundRect">
            <a:avLst>
              <a:gd name="adj" fmla="val 9412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28">
                <a:alpha val="25000"/>
              </a:srgbClr>
            </a:outerShdw>
          </a:effectLst>
        </p:spPr>
      </p:sp>
      <p:pic>
        <p:nvPicPr>
          <p:cNvPr id="3" name="Image 0" descr="/tmp/claude-0/-home-user-Software-HLM/9626bf06-2016-58b5-a6e3-247e34a42767/scratchpad/logo_5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84832"/>
            <a:ext cx="2331720" cy="2331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94760" y="21488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CATOLICA DEL ECUADOR  ·  SEDE AMBATO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749040" y="246888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Estudio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3803904" y="3493008"/>
            <a:ext cx="10058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794760" y="370332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 de escritorio que reune las materias, el horario</a:t>
            </a:r>
            <a:endParaRPr lang="en-US" sz="15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clases y los promedios del semestre en un solo lugar.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68680" y="5138928"/>
            <a:ext cx="10469880" cy="18288"/>
          </a:xfrm>
          <a:prstGeom prst="rect">
            <a:avLst/>
          </a:prstGeom>
          <a:solidFill>
            <a:srgbClr val="24344F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32180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Steveen Culquicondor   ·   Angel Nunez   ·   Ricardo Garrido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49440" y="532180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4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Programacion   ·   Python 3 con Tkinter   ·   v1.0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46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veremos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8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81328" y="18288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resuelve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81328" y="21579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existe el programa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481328" y="2615184"/>
            <a:ext cx="4160520" cy="10973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7830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8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59168" y="18288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modulos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059168" y="21579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por cada pantalla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59168" y="2615184"/>
            <a:ext cx="4160520" cy="10973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089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8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81328" y="31546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guarda la informacion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81328" y="34838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en archivos JSON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481328" y="3941064"/>
            <a:ext cx="4160520" cy="10973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1089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8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059168" y="31546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organizacion del codigo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059168" y="34838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archivos, una responsabilidad cada uno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59168" y="3941064"/>
            <a:ext cx="4160520" cy="10973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348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8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481328" y="44805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utilizadas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481328" y="48097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Lenguaje, librerias y programas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481328" y="5266944"/>
            <a:ext cx="4160520" cy="10973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44348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8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059168" y="44805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ejecutar el programa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059168" y="48097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pasos para abrirlo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059168" y="5266944"/>
            <a:ext cx="4160520" cy="10973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2453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Estudio  ·  Fundamentos de Programacion  ·  PUCE Ambato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46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libreta suelta a un solo programa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4023360"/>
          </a:xfrm>
          <a:prstGeom prst="roundRect">
            <a:avLst>
              <a:gd name="adj" fmla="val 3182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informacion vive dispersa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87552" y="3182112"/>
            <a:ext cx="118872" cy="118872"/>
          </a:xfrm>
          <a:prstGeom prst="ellipse">
            <a:avLst/>
          </a:prstGeom>
          <a:solidFill>
            <a:srgbClr val="C3CEDE"/>
          </a:solidFill>
          <a:ln w="12700">
            <a:solidFill>
              <a:srgbClr val="C3C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3063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materias anotadas en un cuaderno.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87552" y="3749040"/>
            <a:ext cx="118872" cy="118872"/>
          </a:xfrm>
          <a:prstGeom prst="ellipse">
            <a:avLst/>
          </a:prstGeom>
          <a:solidFill>
            <a:srgbClr val="C3CEDE"/>
          </a:solidFill>
          <a:ln w="12700">
            <a:solidFill>
              <a:srgbClr val="C3C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36301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horario en una foto del celular.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87552" y="4315968"/>
            <a:ext cx="118872" cy="118872"/>
          </a:xfrm>
          <a:prstGeom prst="ellipse">
            <a:avLst/>
          </a:prstGeom>
          <a:solidFill>
            <a:srgbClr val="C3CEDE"/>
          </a:solidFill>
          <a:ln w="12700">
            <a:solidFill>
              <a:srgbClr val="C3C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41970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notas sumadas a mano en una hoja.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87552" y="4882896"/>
            <a:ext cx="118872" cy="118872"/>
          </a:xfrm>
          <a:prstGeom prst="ellipse">
            <a:avLst/>
          </a:prstGeom>
          <a:solidFill>
            <a:srgbClr val="C3CEDE"/>
          </a:solidFill>
          <a:ln w="12700">
            <a:solidFill>
              <a:srgbClr val="C3C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47640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eso se puede consultar junto.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5230368" cy="4023360"/>
          </a:xfrm>
          <a:prstGeom prst="roundRect">
            <a:avLst>
              <a:gd name="adj" fmla="val 3182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C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SISTEMA DE ESTUDIO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29400" y="23774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junto y guardado solo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656832" y="3182112"/>
            <a:ext cx="118872" cy="1188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67728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asignaturas registradas con docente y aula.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656832" y="3749040"/>
            <a:ext cx="118872" cy="1188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36301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horario armado y sin cruces de hora.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56832" y="4315968"/>
            <a:ext cx="118872" cy="1188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41970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promedios calculados y guardados.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656832" y="4882896"/>
            <a:ext cx="118872" cy="1188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67728" y="47640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recupera todo al volver a abrir el programa.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" y="62453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El problema que resuelve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2588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FFFF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960120" y="36118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cuatro modulos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05840" y="4590288"/>
            <a:ext cx="822960" cy="411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482803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diseno para las cuatro pantallas: barra institucional, titulo,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de trabajo y boton para regresar al menu.</a:t>
            </a:r>
            <a:endParaRPr lang="en-US" sz="1500" dirty="0"/>
          </a:p>
        </p:txBody>
      </p:sp>
      <p:pic>
        <p:nvPicPr>
          <p:cNvPr id="6" name="Image 0" descr="/tmp/claude-0/-home-user-Software-HLM/9626bf06-2016-58b5-a6e3-247e34a42767/scratchpad/logo_512.png">    </p:cNvPr>
          <p:cNvPicPr>
            <a:picLocks noChangeAspect="1"/>
          </p:cNvPicPr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950976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46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GENERAL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menu principal</a:t>
            </a:r>
            <a:endParaRPr lang="en-US" sz="3400" dirty="0"/>
          </a:p>
        </p:txBody>
      </p:sp>
      <p:pic>
        <p:nvPicPr>
          <p:cNvPr id="5" name="Image 0" descr="/tmp/claude-0/-home-user-Software-HLM/9626bf06-2016-58b5-a6e3-247e34a42767/scratchpad/recursos/marco_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263640" cy="4453128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A1628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269480" y="187452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6948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863840" y="1856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Materias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863840" y="2167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Asignaturas, docentes y aulas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269480" y="283464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69480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863840" y="2816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 Semanal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863840" y="3127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de clase de la semana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269480" y="379476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69480" y="3794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863840" y="3776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Promedios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863840" y="4087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de las calificaciones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269480" y="475488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948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863840" y="4736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Informacion del Sistema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7863840" y="5047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proyecto y autores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269480" y="5532120"/>
            <a:ext cx="4270248" cy="658368"/>
          </a:xfrm>
          <a:prstGeom prst="roundRect">
            <a:avLst>
              <a:gd name="adj" fmla="val 13889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0" y="55321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barra inferior muestra en todo momento cuantas materias, bloques y el promedio general.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" y="62453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Los cuatro modulos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46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Materias</a:t>
            </a:r>
            <a:endParaRPr lang="en-US" sz="3400" dirty="0"/>
          </a:p>
        </p:txBody>
      </p:sp>
      <p:pic>
        <p:nvPicPr>
          <p:cNvPr id="5" name="Image 0" descr="/tmp/claude-0/-home-user-Software-HLM/9626bf06-2016-58b5-a6e3-247e34a42767/scratchpad/recursos/marco_mater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263640" cy="4453128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A1628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269480" y="182880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6948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863840" y="1810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guiado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63840" y="2130552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materia se escoge de una lista fija para que el nombre se escriba siempre igual.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69480" y="294436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69480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863840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operaciones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863840" y="3246120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Guardar, editar, eliminar y limpiar, con confirmacion antes de borrar.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69480" y="4059936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6948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863840" y="4041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duplicados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863840" y="4361688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si la asignatura ya estaba registrada.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269480" y="517550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9480" y="5175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863840" y="51572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inmediato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863840" y="5477256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se escribe en materias.json al instante.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62453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Los cuatro modulos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46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Horario Semanal</a:t>
            </a:r>
            <a:endParaRPr lang="en-US" sz="3400" dirty="0"/>
          </a:p>
        </p:txBody>
      </p:sp>
      <p:pic>
        <p:nvPicPr>
          <p:cNvPr id="5" name="Image 0" descr="/tmp/claude-0/-home-user-Software-HLM/9626bf06-2016-58b5-a6e3-247e34a42767/scratchpad/recursos/marco_hor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737360"/>
            <a:ext cx="6263640" cy="4453128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A1628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0080" y="192024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34440" y="1901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Deteccion de cruces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222199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bloque nuevo choca con otro ya registrado, el programa lo advierte antes de guardar.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29184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234440" y="32735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en formato 24h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34440" y="359359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validan las horas escritas y se calcula sola la duracion de cada clase.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66344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234440" y="4645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 semanal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34440" y="496519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grafico de barras muestra cuantas horas de clase tiene cada dia.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2453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Los cuatro modulos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46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Calculadora de Promedios</a:t>
            </a:r>
            <a:endParaRPr lang="en-US" sz="3400" dirty="0"/>
          </a:p>
        </p:txBody>
      </p:sp>
      <p:pic>
        <p:nvPicPr>
          <p:cNvPr id="5" name="Image 0" descr="/tmp/claude-0/-home-user-Software-HLM/9626bf06-2016-58b5-a6e3-247e34a42767/scratchpad/recursos/marco_promed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263640" cy="4453128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A1628">
                <a:alpha val="2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7269480" y="1783080"/>
            <a:ext cx="4270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escriben las notas separadas por comas y el programa entrega el promedio, la nota mayor, la menor y la cantidad.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269480" y="2606040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CALIFICACION  ·  0 A 50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269480" y="2944368"/>
            <a:ext cx="4270248" cy="512064"/>
          </a:xfrm>
          <a:prstGeom prst="roundRect">
            <a:avLst>
              <a:gd name="adj" fmla="val 14286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294436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41 - 50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02752" y="2944368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7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732520" y="294436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69480" y="3547872"/>
            <a:ext cx="4270248" cy="512064"/>
          </a:xfrm>
          <a:prstGeom prst="roundRect">
            <a:avLst>
              <a:gd name="adj" fmla="val 14286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2360" y="354787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31 - 40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02752" y="3547872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7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732520" y="354787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269480" y="4151376"/>
            <a:ext cx="4270248" cy="512064"/>
          </a:xfrm>
          <a:prstGeom prst="roundRect">
            <a:avLst>
              <a:gd name="adj" fmla="val 14286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52360" y="4151376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02752" y="4151376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732520" y="415137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Aprobado, estudia mas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269480" y="4754880"/>
            <a:ext cx="4270248" cy="512064"/>
          </a:xfrm>
          <a:prstGeom prst="roundRect">
            <a:avLst>
              <a:gd name="adj" fmla="val 14286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52360" y="475488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0 - 29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302752" y="4754880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8732520" y="47548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Reprueba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269480" y="5486400"/>
            <a:ext cx="4270248" cy="658368"/>
          </a:xfrm>
          <a:prstGeom prst="roundRect">
            <a:avLst>
              <a:gd name="adj" fmla="val 1388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69480" y="5486400"/>
            <a:ext cx="4270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42, 38, 45, 40, 47   -&gt;   42.40   -&gt;   A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0080" y="62453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Los cuatro modulos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46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Informacion del Sistema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cuadro de dialogo con la ficha del proyecto. Se abre desde el menu o con la tecla F1 en cualquier momento.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86000" y="275234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Estudio  ·  version 1.0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447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0" y="34107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- Sede Ambato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1056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CATEDRA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86000" y="4069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7640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0" y="47274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Steveen Culquicondor, Angel Nunez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Ricardo Garrido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4223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86000" y="538581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con Tkinter y ttk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737360"/>
            <a:ext cx="5230368" cy="4453128"/>
          </a:xfrm>
          <a:prstGeom prst="roundRect">
            <a:avLst>
              <a:gd name="adj" fmla="val 3285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73568" y="2148840"/>
            <a:ext cx="1920240" cy="1920240"/>
          </a:xfrm>
          <a:prstGeom prst="roundRect">
            <a:avLst>
              <a:gd name="adj" fmla="val 9524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C">
                <a:alpha val="22000"/>
              </a:srgbClr>
            </a:outerShdw>
          </a:effectLst>
        </p:spPr>
      </p:sp>
      <p:pic>
        <p:nvPicPr>
          <p:cNvPr id="18" name="Image 0" descr="/tmp/claude-0/-home-user-Software-HLM/9626bf06-2016-58b5-a6e3-247e34a42767/scratchpad/logo_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2148840"/>
            <a:ext cx="1920240" cy="19202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720840" y="4315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escudo institucional viaja dentro del codigo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858000" y="47548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esta guardada en el propio programa convertida a texto, asi que el logo aparece siempre, aunque los archivos se copien a otro computador.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62453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Los cuatro modulos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2588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FFFF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960120" y="36118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dentro del programa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05840" y="4590288"/>
            <a:ext cx="822960" cy="411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482803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guarda la informacion, como esta organizado el codigo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 que herramientas esta construido.</a:t>
            </a:r>
            <a:endParaRPr lang="en-US" sz="1500" dirty="0"/>
          </a:p>
        </p:txBody>
      </p:sp>
      <p:pic>
        <p:nvPicPr>
          <p:cNvPr id="6" name="Image 0" descr="/tmp/claude-0/-home-user-Software-HLM/9626bf06-2016-58b5-a6e3-247e34a42767/scratchpad/logo_512.png">    </p:cNvPr>
          <p:cNvPicPr>
            <a:picLocks noChangeAspect="1"/>
          </p:cNvPicPr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950976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46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 guarda la informacion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el usuario registra se escribe automaticamente en tres archivos JSON que viven junto al programa. No hay que pulsar guardar al salir: al abrir de nuevo la aplicacion, la informacion vuelve a cargarse sola.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3456432" cy="2487168"/>
          </a:xfrm>
          <a:prstGeom prst="roundRect">
            <a:avLst>
              <a:gd name="adj" fmla="val 5147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944368"/>
            <a:ext cx="1874520" cy="384048"/>
          </a:xfrm>
          <a:prstGeom prst="roundRect">
            <a:avLst>
              <a:gd name="adj" fmla="val 21429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443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materias.json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456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Asignaturas del semestre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41832" y="3995928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88620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la materia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41832" y="4379976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427024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y aula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41832" y="476402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65429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 de clase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70832" y="2697480"/>
            <a:ext cx="3456432" cy="2487168"/>
          </a:xfrm>
          <a:prstGeom prst="roundRect">
            <a:avLst>
              <a:gd name="adj" fmla="val 5147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5152" y="2944368"/>
            <a:ext cx="1874520" cy="384048"/>
          </a:xfrm>
          <a:prstGeom prst="roundRect">
            <a:avLst>
              <a:gd name="adj" fmla="val 21429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29443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horario.json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45152" y="3456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de clase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72584" y="3995928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388620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de la semana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72584" y="4379976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427024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 inicio y fin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72584" y="476402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465429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a cargo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01584" y="2697480"/>
            <a:ext cx="3456432" cy="2487168"/>
          </a:xfrm>
          <a:prstGeom prst="roundRect">
            <a:avLst>
              <a:gd name="adj" fmla="val 5147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75904" y="2944368"/>
            <a:ext cx="1874520" cy="384048"/>
          </a:xfrm>
          <a:prstGeom prst="roundRect">
            <a:avLst>
              <a:gd name="adj" fmla="val 21429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5904" y="29443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notas.json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75904" y="3456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 guardados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403336" y="3995928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31936" y="388620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ingresadas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403336" y="4379976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427024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y letra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403336" y="476402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31936" y="465429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y fecha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5376672"/>
            <a:ext cx="10899648" cy="676656"/>
          </a:xfrm>
          <a:prstGeom prst="roundRect">
            <a:avLst>
              <a:gd name="adj" fmla="val 13514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537667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archivo no existe, el programa lo crea vacio al arrancar. Si esta danado, avisa por consola y sigue funcionando en lugar de cerrarse.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" y="62453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Como se guarda la informacion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46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organizacion del codigo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esta repartido en nueve archivos, uno por responsabilidad. Cada archivo solo usa a los que estan por encima suyo: la dependencia va siempre en un sentido y nunca en circulo.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089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134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3436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lineas de codigo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297180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31089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134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y clases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4937760" cy="1417320"/>
          </a:xfrm>
          <a:prstGeom prst="roundRect">
            <a:avLst>
              <a:gd name="adj" fmla="val 7742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C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7548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arranca unicamente desde study_control.py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otros ocho son piezas: por si solas no abren ninguna ventana.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737360"/>
            <a:ext cx="5504688" cy="411480"/>
          </a:xfrm>
          <a:prstGeom prst="roundRect">
            <a:avLst>
              <a:gd name="adj" fmla="val 15556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configuracion.py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75320" y="1737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Colores, medidas, rutas y escala de notas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2221992"/>
            <a:ext cx="5504688" cy="411480"/>
          </a:xfrm>
          <a:prstGeom prst="roundRect">
            <a:avLst>
              <a:gd name="adj" fmla="val 15556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2219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utilidades.py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75320" y="22219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Tipografias, validaciones y calculos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2706624"/>
            <a:ext cx="5504688" cy="411480"/>
          </a:xfrm>
          <a:prstGeom prst="roundRect">
            <a:avLst>
              <a:gd name="adj" fmla="val 15556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7066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datos.py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75320" y="270662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y escritura de los archivos JSON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3191256"/>
            <a:ext cx="5504688" cy="411480"/>
          </a:xfrm>
          <a:prstGeom prst="roundRect">
            <a:avLst>
              <a:gd name="adj" fmla="val 15556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19125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interfaz.py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75320" y="31912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Estilos, botones, tablas, logo y ventana base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3675888"/>
            <a:ext cx="5504688" cy="411480"/>
          </a:xfrm>
          <a:prstGeom prst="roundRect">
            <a:avLst>
              <a:gd name="adj" fmla="val 15556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6758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modulo_materias.py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75320" y="36758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1 - Registro de materias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4160520"/>
            <a:ext cx="5504688" cy="411480"/>
          </a:xfrm>
          <a:prstGeom prst="roundRect">
            <a:avLst>
              <a:gd name="adj" fmla="val 15556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modulo_horario.py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75320" y="41605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2 - Horario semanal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4645152"/>
            <a:ext cx="5504688" cy="411480"/>
          </a:xfrm>
          <a:prstGeom prst="roundRect">
            <a:avLst>
              <a:gd name="adj" fmla="val 15556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46451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modulo_promedios.py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75320" y="46451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3 - Calculadora de promedios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5129784"/>
            <a:ext cx="5504688" cy="411480"/>
          </a:xfrm>
          <a:prstGeom prst="roundRect">
            <a:avLst>
              <a:gd name="adj" fmla="val 15556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512978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modulo_informacion.py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75320" y="512978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4 - Informacion del sistema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35040" y="5614416"/>
            <a:ext cx="5504688" cy="411480"/>
          </a:xfrm>
          <a:prstGeom prst="roundRect">
            <a:avLst>
              <a:gd name="adj" fmla="val 15556"/>
            </a:avLst>
          </a:prstGeom>
          <a:solidFill>
            <a:srgbClr val="012A80"/>
          </a:solidFill>
          <a:ln w="12700">
            <a:solidFill>
              <a:srgbClr val="012A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56144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study_control.py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75320" y="56144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principal y arranque del programa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40080" y="62453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La organizacion del codigo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46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utilizadas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178308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77640" y="178308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 y el interprete que ejecuta el programa.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y ttk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256032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Libreria grafica incluida en Python: ventanas, botones y tablas.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3375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json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77640" y="333756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y recupera la informacion en los archivos de datos.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41148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77640" y="411480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donde se escribe y se ejecuta el proyecto.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89204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34440" y="4892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GitHub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77640" y="48920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cambios y respaldo del codigo.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58200" y="1783080"/>
            <a:ext cx="3081528" cy="3246120"/>
          </a:xfrm>
          <a:prstGeom prst="roundRect">
            <a:avLst>
              <a:gd name="adj" fmla="val 474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3BC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58200" y="214884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200" dirty="0"/>
          </a:p>
        </p:txBody>
      </p:sp>
      <p:sp>
        <p:nvSpPr>
          <p:cNvPr id="27" name="Text 25"/>
          <p:cNvSpPr/>
          <p:nvPr/>
        </p:nvSpPr>
        <p:spPr>
          <a:xfrm>
            <a:off x="8458200" y="310896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librerias externas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0" y="3794760"/>
            <a:ext cx="262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en cualquier computador que tenga Python, sin internet y sin instalar nada mas.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es la unica libreria externa y es opcional: mejora la nitidez del logo, pero sin ella el programa funciona igual.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2453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Herramientas utilizadas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46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13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MARCHA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ejecutar el programa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56432" cy="2331720"/>
          </a:xfrm>
          <a:prstGeom prst="roundRect">
            <a:avLst>
              <a:gd name="adj" fmla="val 5490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8483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7D8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32688" y="28346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la carpeta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3200400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Visual Studio Code: Archivo, Abrir carpeta. Se abre la carpeta completa, no un archivo suelto.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0832" y="1874520"/>
            <a:ext cx="3456432" cy="2331720"/>
          </a:xfrm>
          <a:prstGeom prst="roundRect">
            <a:avLst>
              <a:gd name="adj" fmla="val 5490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08483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7D8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663440" y="28346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Presionar F5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siempre study_control.py, aunque el editor tenga abierto otro archivo.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1584" y="1874520"/>
            <a:ext cx="3456432" cy="2331720"/>
          </a:xfrm>
          <a:prstGeom prst="roundRect">
            <a:avLst>
              <a:gd name="adj" fmla="val 5490"/>
            </a:avLst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208483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7D8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394192" y="28346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programa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3200400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registran materias, se arma el horario y se calculan promedios. Todo se guarda solo.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10899648" cy="960120"/>
          </a:xfrm>
          <a:prstGeom prst="roundRect">
            <a:avLst>
              <a:gd name="adj" fmla="val 1142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5262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Tambien desde la terminal: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0" y="452628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study_control.py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38160" y="45262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Requisito: Python 3 instalado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ejecuta por error una de las otras ocho piezas, ella misma avisa en la terminal cual es el archivo correcto.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2453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Como ejecutar el programa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051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semestre completo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 solo programa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68680" y="327355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modulos con un mismo diseno y navegacion clara.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387705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38039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automatico en archivos JSON, sin perder informacion.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48056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44074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dividido en nueve archivos, uno por responsabilidad.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508406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50109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con Python en cualquier computador, sin internet.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58200" y="1417320"/>
            <a:ext cx="2880360" cy="2880360"/>
          </a:xfrm>
          <a:prstGeom prst="roundRect">
            <a:avLst>
              <a:gd name="adj" fmla="val 7619"/>
            </a:avLst>
          </a:prstGeom>
          <a:solidFill>
            <a:srgbClr val="0134A1"/>
          </a:solidFill>
          <a:ln w="12700">
            <a:solidFill>
              <a:srgbClr val="0134A1"/>
            </a:solidFill>
            <a:prstDash val="solid"/>
          </a:ln>
          <a:effectLst>
            <a:outerShdw sx="100000" sy="100000" kx="0" ky="0" algn="bl" rotWithShape="0" blurRad="228600" dist="50800" dir="5400000">
              <a:srgbClr val="0A1628">
                <a:alpha val="25000"/>
              </a:srgbClr>
            </a:outerShdw>
          </a:effectLst>
        </p:spPr>
      </p:sp>
      <p:pic>
        <p:nvPicPr>
          <p:cNvPr id="13" name="Image 0" descr="/tmp/claude-0/-home-user-Software-HLM/9626bf06-2016-58b5-a6e3-247e34a42767/scratchpad/logo_5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417320"/>
            <a:ext cx="2880360" cy="28803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75320" y="4572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atencion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75320" y="502920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study_control.py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5870448"/>
            <a:ext cx="10469880" cy="18288"/>
          </a:xfrm>
          <a:prstGeom prst="rect">
            <a:avLst/>
          </a:prstGeom>
          <a:solidFill>
            <a:srgbClr val="1E2C44"/>
          </a:solidFill>
          <a:ln w="12700">
            <a:solidFill>
              <a:srgbClr val="1E2C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60350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Steveen Culquicondor  ·  Angel Nunez  ·  Ricardo Garrido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675120" y="6035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4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Programacion  ·  PUCE Ambato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Pontificia Universidad Catolica del Ecuador - Sede Ambato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Estudio</dc:title>
  <dc:subject>PptxGenJS Presentation</dc:subject>
  <dc:creator>Steveen Culquicondor - Angel Nunez - Ricardo Garrido</dc:creator>
  <cp:lastModifiedBy>Steveen Culquicondor - Angel Nunez - Ricardo Garrido</cp:lastModifiedBy>
  <cp:revision>1</cp:revision>
  <dcterms:created xsi:type="dcterms:W3CDTF">2026-08-13T19:39:43Z</dcterms:created>
  <dcterms:modified xsi:type="dcterms:W3CDTF">2026-08-13T19:39:43Z</dcterms:modified>
</cp:coreProperties>
</file>